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Sites</c:v>
                </c:pt>
              </c:strCache>
            </c:strRef>
          </c:tx>
          <c:spPr>
            <a:solidFill>
              <a:srgbClr val="DA29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CEFF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A29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West Tokyo</c:v>
                  </c:pt>
                  <c:pt idx="1">
                    <c:v>East Tokyo</c:v>
                  </c:pt>
                  <c:pt idx="2">
                    <c:v>Central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12</c:v>
                </c:pt>
                <c:pt idx="2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CEFF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B28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B28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3474720" cy="411480"/>
          </a:xfrm>
          <a:prstGeom prst="rect">
            <a:avLst/>
          </a:prstGeom>
          <a:solidFill>
            <a:srgbClr val="1B2838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347472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site-selection-pipeline  v2.0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CE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McDonald's Tokyo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D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Selection Pipeline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8046720" cy="36576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26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DB6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1,804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97480" y="2926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DB6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9748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clusters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926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DB6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3,572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4632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scored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95160" y="2926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DB6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9516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selected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HDBSCAN  ·  Noise Reassignment  ·  Greedy NMS  ·  Folium Interactive Map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E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Sources &amp; Scraping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Tabelog Tokyo  —  1,804 restaurants, scraped via scraper.py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Category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Brands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3796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58952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Weight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8229600" cy="27432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45336"/>
            <a:ext cx="8229600" cy="713232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545336"/>
            <a:ext cx="54864" cy="71323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600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Burger (direct)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McDonald's · MOS Burger · KFC · Wendy's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37960" y="1600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A2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0" y="1600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368296"/>
            <a:ext cx="8229600" cy="713232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368296"/>
            <a:ext cx="54864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Teishoku (indirect)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Matsuya · Yoshinoya · Sukiya · Nakau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2423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0" y="2423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191256"/>
            <a:ext cx="8229600" cy="713232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191256"/>
            <a:ext cx="54864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246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Family (indirect)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Gusto · Saizeriya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37960" y="3246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89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89520" y="3246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297680"/>
            <a:ext cx="8229600" cy="566928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9768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review_count</a:t>
            </a:r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used as popularity proxy  ·  </a:t>
            </a:r>
            <a:pPr indent="0" marL="0">
              <a:buNone/>
            </a:pPr>
            <a:r>
              <a:rPr lang="en-US" sz="9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</a:t>
            </a:r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applied only to competitive-pressure distance filter  ·  HDBSCAN clustering uses raw counts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E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20240" cy="3383280"/>
          </a:xfrm>
          <a:prstGeom prst="rect">
            <a:avLst/>
          </a:prstGeom>
          <a:solidFill>
            <a:srgbClr val="1B2838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92024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188720"/>
            <a:ext cx="694944" cy="69494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1887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Scrape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Tabelog → CSV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1,804 restaurants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3493008"/>
            <a:ext cx="1591056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493008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scraper.py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04288" y="2660904"/>
            <a:ext cx="201168" cy="7315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1005840"/>
            <a:ext cx="1920240" cy="3383280"/>
          </a:xfrm>
          <a:prstGeom prst="rect">
            <a:avLst/>
          </a:prstGeom>
          <a:solidFill>
            <a:srgbClr val="1B2838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1005840"/>
            <a:ext cx="192024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27248" y="1188720"/>
            <a:ext cx="694944" cy="69494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27248" y="11887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60604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Cluster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51760" y="25146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HDBSCAN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demand zones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79192" y="3493008"/>
            <a:ext cx="1591056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9192" y="3493008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site_selection.py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453128" y="2660904"/>
            <a:ext cx="201168" cy="7315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005840"/>
            <a:ext cx="1920240" cy="3383280"/>
          </a:xfrm>
          <a:prstGeom prst="rect">
            <a:avLst/>
          </a:prstGeom>
          <a:solidFill>
            <a:srgbClr val="1B2838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005840"/>
            <a:ext cx="192024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76088" y="1188720"/>
            <a:ext cx="694944" cy="69494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76088" y="11887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75488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00600" y="25146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3-factor scoring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3,572 candidates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28032" y="3493008"/>
            <a:ext cx="1591056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493008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site_selection_v2.py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01968" y="2660904"/>
            <a:ext cx="201168" cy="7315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1005840"/>
            <a:ext cx="1920240" cy="3383280"/>
          </a:xfrm>
          <a:prstGeom prst="rect">
            <a:avLst/>
          </a:prstGeom>
          <a:solidFill>
            <a:srgbClr val="1B2838"/>
          </a:solidFill>
          <a:ln w="19050">
            <a:solidFill>
              <a:srgbClr val="66BB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12280" y="1005840"/>
            <a:ext cx="1920240" cy="54864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24928" y="1188720"/>
            <a:ext cx="694944" cy="694944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24928" y="11887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90372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Select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49440" y="25146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NMS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final sites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76872" y="3493008"/>
            <a:ext cx="1591056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76872" y="3493008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app_interactive.py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output/interactive_map_slider.html   +   output/top_candidates_v2.csv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E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HDBSCAN Demand Clustering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B6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3931920" cy="45720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350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23160" y="1335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haversine  (input: radians)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810512"/>
            <a:ext cx="3931920" cy="45720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83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min_cluster_size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23160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59152"/>
            <a:ext cx="3931920" cy="45720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323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23160" y="2432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907792"/>
            <a:ext cx="3931920" cy="45720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809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cluster_selection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23160" y="2980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456432"/>
            <a:ext cx="3931920" cy="45720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295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prediction_data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23160" y="3529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822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A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Review-Count Weighting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1261872"/>
            <a:ext cx="3840480" cy="2395728"/>
          </a:xfrm>
          <a:prstGeom prst="rect">
            <a:avLst/>
          </a:prstGeom>
          <a:solidFill>
            <a:srgbClr val="1B2838"/>
          </a:solidFill>
          <a:ln w="12700">
            <a:solidFill>
              <a:srgbClr val="FF8A6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1389888"/>
            <a:ext cx="3520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HDBSCAN has no sample_weight.
</a:t>
            </a:r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replication achieves the same effect:
</a:t>
            </a:r>
            <a:pPr indent="0" marL="0">
              <a:buNone/>
            </a:pPr>
            <a:r>
              <a:rPr lang="en-US" sz="95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repeats = (review_count / Q25)
</a:t>
            </a:r>
            <a:pPr indent="0" marL="0">
              <a:buNone/>
            </a:pPr>
            <a:r>
              <a:rPr lang="en-US" sz="95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.round().clip(1, 10)
</a:t>
            </a:r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Q25 = 18 reviews  →  1× repeat
</a:t>
            </a:r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High-review restaurants  →  up to 10×
</a:t>
            </a:r>
            <a:pPr indent="0" marL="0">
              <a:buNone/>
            </a:pPr>
            <a:r>
              <a:rPr lang="en-US" sz="950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1,804 restaurants  →  4,174 weighted points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B2838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5720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 110 demand clusters  ·  438 noise-labelled restaurants  ·  haversine on radians input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E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v2 Improvement — Sparse Area Recovery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931920" cy="4114800"/>
          </a:xfrm>
          <a:prstGeom prst="rect">
            <a:avLst/>
          </a:prstGeom>
          <a:solidFill>
            <a:srgbClr val="1B2838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3931920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01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A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6118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Shirokane: 14 restaurants spread
across a large area.
</a:t>
            </a:r>
            <a:pPr indent="0" marL="0">
              <a:buNone/>
            </a:pPr>
            <a:r>
              <a:rPr lang="en-US" sz="1050" dirty="0">
                <a:solidFill>
                  <a:srgbClr val="FF8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HDBSCAN assigns label = -1 (noise).
</a:t>
            </a:r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438 restaurants discarded.
Zero candidates in that zone.
</a:t>
            </a:r>
            <a:pPr indent="0" marL="0">
              <a:buNone/>
            </a:pPr>
            <a:r>
              <a:rPr lang="en-US" sz="10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 Shirokane has thousands of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workers eating lunch daily.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822960"/>
            <a:ext cx="3931920" cy="4114800"/>
          </a:xfrm>
          <a:prstGeom prst="rect">
            <a:avLst/>
          </a:prstGeom>
          <a:solidFill>
            <a:srgbClr val="1B2838"/>
          </a:solidFill>
          <a:ln w="19050">
            <a:solidFill>
              <a:srgbClr val="66BB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822960"/>
            <a:ext cx="3931920" cy="640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9601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v2 Fix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36118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Compute centroids from confirmed
   members only.
</a:t>
            </a:r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For each noise point: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= nearest_centroid
</a:t>
            </a:r>
            <a:pPr indent="0" marL="0">
              <a:buNone/>
            </a:pPr>
            <a:r>
              <a:rPr lang="en-US" sz="105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(BallTree haversine)
</a:t>
            </a:r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Set membership_strength: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NOISE_MEMBERSHIP  (slider 0–1)
</a:t>
            </a:r>
            <a:pPr indent="0" marL="0">
              <a:buNone/>
            </a:pPr>
            <a:r>
              <a:rPr lang="en-US" sz="1050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Shirokane → rank #48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(amber badge, interactive map)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E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Scoring Formula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1051560"/>
          </a:xfrm>
          <a:prstGeom prst="rect">
            <a:avLst/>
          </a:prstGeom>
          <a:solidFill>
            <a:srgbClr val="1B2838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base_score  = </a:t>
            </a:r>
            <a:pPr indent="0" marL="0">
              <a:buNone/>
            </a:pPr>
            <a:r>
              <a:rPr lang="en-US" sz="1300" b="1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</a:t>
            </a:r>
            <a:pPr indent="0" marL="0">
              <a:buNone/>
            </a:pPr>
            <a:r>
              <a:rPr lang="en-US" sz="13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cluster_demand  +  </a:t>
            </a:r>
            <a:pPr indent="0" marL="0">
              <a:buNone/>
            </a:pPr>
            <a:r>
              <a:rPr lang="en-US" sz="1300" b="1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</a:t>
            </a:r>
            <a:pPr indent="0" marL="0">
              <a:buNone/>
            </a:pPr>
            <a:r>
              <a:rPr lang="en-US" sz="13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mcd_gap  +  </a:t>
            </a:r>
            <a:pPr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pPr indent="0" marL="0">
              <a:buNone/>
            </a:pPr>
            <a:r>
              <a:rPr lang="en-US" sz="13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distance_buffer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final_score = </a:t>
            </a:r>
            <a:pPr indent="0" marL="0">
              <a:buNone/>
            </a:pPr>
            <a:r>
              <a:rPr lang="en-US" sz="13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base_score</a:t>
            </a:r>
            <a:pPr indent="0" marL="0">
              <a:buNone/>
            </a:pPr>
            <a:r>
              <a:rPr lang="en-US" sz="13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</a:t>
            </a:r>
            <a:pPr indent="0" marL="0">
              <a:buNone/>
            </a:pPr>
            <a:r>
              <a:rPr lang="en-US" sz="1300" dirty="0">
                <a:solidFill>
                  <a:srgbClr val="FFC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membership_strength</a:t>
            </a:r>
            <a:pPr indent="0" marL="0">
              <a:buNone/>
            </a:pPr>
            <a:r>
              <a:rPr lang="en-US" sz="13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max(all raw scores)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606040" cy="2423160"/>
          </a:xfrm>
          <a:prstGeom prst="rect">
            <a:avLst/>
          </a:prstGeom>
          <a:solidFill>
            <a:srgbClr val="1B2838"/>
          </a:solidFill>
          <a:ln w="19050">
            <a:solidFill>
              <a:srgbClr val="4DB6A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286000"/>
            <a:ext cx="658368" cy="45720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28600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" y="288036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cluster_demand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3337560"/>
            <a:ext cx="2276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sum(review_count) in the zone,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normalised by global max.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review-rich is the area?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2103120"/>
            <a:ext cx="2606040" cy="2423160"/>
          </a:xfrm>
          <a:prstGeom prst="rect">
            <a:avLst/>
          </a:prstGeom>
          <a:solidFill>
            <a:srgbClr val="1B2838"/>
          </a:solidFill>
          <a:ln w="19050">
            <a:solidFill>
              <a:srgbClr val="FF8A6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56432" y="2286000"/>
            <a:ext cx="658368" cy="457200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228600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56432" y="288036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mcd_gap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56432" y="3337560"/>
            <a:ext cx="2276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1 − (mcd_count / n_restaurants)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cluster.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absent is McDonald's?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103120"/>
            <a:ext cx="2606040" cy="2423160"/>
          </a:xfrm>
          <a:prstGeom prst="rect">
            <a:avLst/>
          </a:prstGeom>
          <a:solidFill>
            <a:srgbClr val="1B2838"/>
          </a:solidFill>
          <a:ln w="19050">
            <a:solidFill>
              <a:srgbClr val="66BB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91072" y="2286000"/>
            <a:ext cx="658368" cy="4572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228600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0.20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288036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distance_buffer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91072" y="3337560"/>
            <a:ext cx="2276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dist_to_nearest_own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clipped at 2 km, divided by 2.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spacing from existing stores.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663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membership_strength: </a:t>
            </a:r>
            <a:pPr indent="0" marL="0">
              <a:buNone/>
            </a:pPr>
            <a:r>
              <a:rPr lang="en-US" sz="85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approx_predict</a:t>
            </a:r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confidence for confirmed clusters  ·  </a:t>
            </a:r>
            <a:pPr indent="0" marL="0">
              <a:buNone/>
            </a:pPr>
            <a:r>
              <a:rPr lang="en-US" sz="850" dirty="0">
                <a:solidFill>
                  <a:srgbClr val="FFC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NOISE_MEMBERSHIP</a:t>
            </a:r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(slider) for sparse-area candidates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E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Greedy NMS Candidate Selection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solidFill>
            <a:srgbClr val="1B2838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9418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 grid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9418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089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8,484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0" y="9418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0.003° spacing  ≈ 330 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solidFill>
            <a:srgbClr val="1B2838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18488"/>
            <a:ext cx="73152" cy="21031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9019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dist_to_own_km  ≥  0.8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19019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Cannibalization guard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0" y="2788920"/>
            <a:ext cx="6400800" cy="731520"/>
          </a:xfrm>
          <a:prstGeom prst="rect">
            <a:avLst/>
          </a:prstGeom>
          <a:solidFill>
            <a:srgbClr val="1B2838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2578608"/>
            <a:ext cx="73152" cy="21031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286207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dist_to_comp_km  ≤  3.0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286207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3,572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0" y="286207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be near market activity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0" y="3749040"/>
            <a:ext cx="5486400" cy="731520"/>
          </a:xfrm>
          <a:prstGeom prst="rect">
            <a:avLst/>
          </a:prstGeom>
          <a:solidFill>
            <a:srgbClr val="1B2838"/>
          </a:solidFill>
          <a:ln w="19050">
            <a:solidFill>
              <a:srgbClr val="66BB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0" y="3538728"/>
            <a:ext cx="73152" cy="21031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38221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Greedy NMS  (1.5 km)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0" y="3822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15200" y="3822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diversity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B2838"/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64515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desc by score  →  select candidate  →  suppress all within 1.5 km  →  repeat until 50 selected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E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Output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874520" cy="1600200"/>
          </a:xfrm>
          <a:prstGeom prst="rect">
            <a:avLst/>
          </a:prstGeom>
          <a:solidFill>
            <a:srgbClr val="1B2838"/>
          </a:solidFill>
          <a:ln w="19050">
            <a:solidFill>
              <a:srgbClr val="4DB6A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DB6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clusters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822960"/>
            <a:ext cx="1874520" cy="1600200"/>
          </a:xfrm>
          <a:prstGeom prst="rect">
            <a:avLst/>
          </a:prstGeom>
          <a:solidFill>
            <a:srgbClr val="1B2838"/>
          </a:solidFill>
          <a:ln w="19050">
            <a:solidFill>
              <a:srgbClr val="FF8A6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9601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A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60320" y="1828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km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McD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1874520" cy="1600200"/>
          </a:xfrm>
          <a:prstGeom prst="rect">
            <a:avLst/>
          </a:prstGeom>
          <a:solidFill>
            <a:srgbClr val="1B2838"/>
          </a:solidFill>
          <a:ln w="19050">
            <a:solidFill>
              <a:srgbClr val="66BB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9601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0.788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63440" y="1828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normalised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822960"/>
            <a:ext cx="1874520" cy="1600200"/>
          </a:xfrm>
          <a:prstGeom prst="rect">
            <a:avLst/>
          </a:prstGeom>
          <a:solidFill>
            <a:srgbClr val="1B2838"/>
          </a:solidFill>
          <a:ln w="19050">
            <a:solidFill>
              <a:srgbClr val="FFC72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9601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66560" y="1828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Zero-gap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zones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2606040"/>
          <a:ext cx="48463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57784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B6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 Files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577840" y="3063240"/>
            <a:ext cx="3291840" cy="54864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77840" y="3063240"/>
            <a:ext cx="54864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15000" y="309981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interactive_map_slider.html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715000" y="33375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Self-contained, no server needed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577840" y="3721608"/>
            <a:ext cx="3291840" cy="54864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77840" y="3721608"/>
            <a:ext cx="54864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15000" y="37581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interactive_map_v2.html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715000" y="39959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v2 reference map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577840" y="4379976"/>
            <a:ext cx="3291840" cy="54864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77840" y="4379976"/>
            <a:ext cx="54864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15000" y="441655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top_candidates_v2.csv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715000" y="46542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ranked candidate table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McDonald's Tokyo — Site Selection Pipeline</dc:title>
  <dc:subject>PptxGenJS Presentation</dc:subject>
  <dc:creator>PptxGenJS</dc:creator>
  <cp:lastModifiedBy>PptxGenJS</cp:lastModifiedBy>
  <cp:revision>1</cp:revision>
  <dcterms:created xsi:type="dcterms:W3CDTF">2026-05-02T11:33:35Z</dcterms:created>
  <dcterms:modified xsi:type="dcterms:W3CDTF">2026-05-02T11:33:35Z</dcterms:modified>
</cp:coreProperties>
</file>