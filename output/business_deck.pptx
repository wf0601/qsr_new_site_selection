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Locations</c:v>
                </c:pt>
              </c:strCache>
            </c:strRef>
          </c:tx>
          <c:spPr>
            <a:solidFill>
              <a:srgbClr val="9E9E9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E9E9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F704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DBDB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A291C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Teishoku
(indirect)</c:v>
                  </c:pt>
                  <c:pt idx="1">
                    <c:v>Burger rivals
(direct)</c:v>
                  </c:pt>
                  <c:pt idx="2">
                    <c:v>Family
(indirect)</c:v>
                  </c:pt>
                  <c:pt idx="3">
                    <c:v>McDonald's
(own)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960</c:v>
                </c:pt>
                <c:pt idx="1">
                  <c:v>289</c:v>
                </c:pt>
                <c:pt idx="2">
                  <c:v>281</c:v>
                </c:pt>
                <c:pt idx="3">
                  <c:v>275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DA29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685800"/>
            <a:ext cx="1554480" cy="1554480"/>
          </a:xfrm>
          <a:prstGeom prst="ellipse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8580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DA29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502920" y="246888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McDonald's Tokyo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02920" y="32461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FC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Site Expansion Strategy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02920" y="4023360"/>
            <a:ext cx="347472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40233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Data-Driven Market Analysis  ·  Tokyo 2025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DA291C"/>
          </a:solidFill>
          <a:ln w="12700">
            <a:solidFill>
              <a:srgbClr val="DA29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1097280"/>
            <a:ext cx="1874520" cy="228600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097280"/>
            <a:ext cx="1874520" cy="64008"/>
          </a:xfrm>
          <a:prstGeom prst="rect">
            <a:avLst/>
          </a:prstGeom>
          <a:solidFill>
            <a:srgbClr val="DA291C"/>
          </a:solidFill>
          <a:ln w="12700">
            <a:solidFill>
              <a:srgbClr val="DA291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371600"/>
            <a:ext cx="1874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DA29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1,804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11480" y="256032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Restaurants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14600" y="1097280"/>
            <a:ext cx="1874520" cy="228600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14600" y="1097280"/>
            <a:ext cx="1874520" cy="64008"/>
          </a:xfrm>
          <a:prstGeom prst="rect">
            <a:avLst/>
          </a:prstGeom>
          <a:solidFill>
            <a:srgbClr val="DA291C"/>
          </a:solidFill>
          <a:ln w="12700">
            <a:solidFill>
              <a:srgbClr val="DA291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14600" y="1371600"/>
            <a:ext cx="1874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DA29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275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2514600" y="256032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McDonald's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17720" y="1097280"/>
            <a:ext cx="1874520" cy="228600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17720" y="1097280"/>
            <a:ext cx="1874520" cy="64008"/>
          </a:xfrm>
          <a:prstGeom prst="rect">
            <a:avLst/>
          </a:prstGeom>
          <a:solidFill>
            <a:srgbClr val="DA291C"/>
          </a:solidFill>
          <a:ln w="12700">
            <a:solidFill>
              <a:srgbClr val="DA291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1371600"/>
            <a:ext cx="1874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DA29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110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4617720" y="256032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 Zones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720840" y="1097280"/>
            <a:ext cx="1874520" cy="228600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720840" y="1097280"/>
            <a:ext cx="1874520" cy="64008"/>
          </a:xfrm>
          <a:prstGeom prst="rect">
            <a:avLst/>
          </a:prstGeom>
          <a:solidFill>
            <a:srgbClr val="DA291C"/>
          </a:solidFill>
          <a:ln w="12700">
            <a:solidFill>
              <a:srgbClr val="DA291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20840" y="1371600"/>
            <a:ext cx="1874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DA29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6720840" y="256032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Sites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solidFill>
            <a:srgbClr val="FFF8E1"/>
          </a:solidFill>
          <a:ln w="12700">
            <a:solidFill>
              <a:srgbClr val="FFE0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434840"/>
            <a:ext cx="841248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D40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  4 high-demand zones have zero McDonald's presence — untapped lunch &amp; dinner markets ready for entry.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Our Approach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1188720"/>
            <a:ext cx="2606040" cy="329184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30452" y="1417320"/>
            <a:ext cx="768096" cy="768096"/>
          </a:xfrm>
          <a:prstGeom prst="ellipse">
            <a:avLst/>
          </a:prstGeom>
          <a:solidFill>
            <a:srgbClr val="DA291C"/>
          </a:solidFill>
          <a:ln w="12700">
            <a:solidFill>
              <a:srgbClr val="DA291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30452" y="141732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Map Every Restaurant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297180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Collected location and popularity data for 1,804 restaurants across Tokyo — McDonald's plus all major competitor chains.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044952" y="2788920"/>
            <a:ext cx="246888" cy="91440"/>
          </a:xfrm>
          <a:prstGeom prst="rect">
            <a:avLst/>
          </a:prstGeom>
          <a:solidFill>
            <a:srgbClr val="DA291C"/>
          </a:solidFill>
          <a:ln w="12700">
            <a:solidFill>
              <a:srgbClr val="DA291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1188720"/>
            <a:ext cx="2606040" cy="329184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10812" y="1417320"/>
            <a:ext cx="768096" cy="768096"/>
          </a:xfrm>
          <a:prstGeom prst="ellipse">
            <a:avLst/>
          </a:prstGeom>
          <a:solidFill>
            <a:srgbClr val="DA291C"/>
          </a:solidFill>
          <a:ln w="12700">
            <a:solidFill>
              <a:srgbClr val="DA291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10812" y="141732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429000" y="23317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Find Demand Zones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74720" y="297180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Identified 110 natural dining hotspots by analysing where high-popularity restaurants cluster across the city.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25312" y="2788920"/>
            <a:ext cx="246888" cy="91440"/>
          </a:xfrm>
          <a:prstGeom prst="rect">
            <a:avLst/>
          </a:prstGeom>
          <a:solidFill>
            <a:srgbClr val="DA291C"/>
          </a:solidFill>
          <a:ln w="12700">
            <a:solidFill>
              <a:srgbClr val="DA29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72200" y="1188720"/>
            <a:ext cx="2606040" cy="329184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091172" y="1417320"/>
            <a:ext cx="768096" cy="768096"/>
          </a:xfrm>
          <a:prstGeom prst="ellipse">
            <a:avLst/>
          </a:prstGeom>
          <a:solidFill>
            <a:srgbClr val="DA291C"/>
          </a:solidFill>
          <a:ln w="12700">
            <a:solidFill>
              <a:srgbClr val="DA291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91172" y="141732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309360" y="23317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Score &amp; Shortlist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55080" y="297180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Ranked 8,500 candidate locations by demand strength, McDonald's absence, and safe spacing from existing stores.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DA291C"/>
          </a:solidFill>
          <a:ln w="12700">
            <a:solidFill>
              <a:srgbClr val="DA29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Competitive Landscape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914400"/>
          <a:ext cx="512064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1371600"/>
            <a:ext cx="347472" cy="347472"/>
          </a:xfrm>
          <a:prstGeom prst="rect">
            <a:avLst/>
          </a:prstGeom>
          <a:solidFill>
            <a:srgbClr val="DA291C"/>
          </a:solidFill>
          <a:ln w="12700">
            <a:solidFill>
              <a:srgbClr val="DA291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263640" y="137160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McDonald's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263640" y="157276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 brand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760720" y="2194560"/>
            <a:ext cx="347472" cy="347472"/>
          </a:xfrm>
          <a:prstGeom prst="rect">
            <a:avLst/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263640" y="219456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Burger chains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263640" y="239572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— same product category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760720" y="3017520"/>
            <a:ext cx="347472" cy="347472"/>
          </a:xfrm>
          <a:prstGeom prst="rect">
            <a:avLst/>
          </a:prstGeom>
          <a:solidFill>
            <a:srgbClr val="9E9E9E"/>
          </a:solidFill>
          <a:ln w="12700">
            <a:solidFill>
              <a:srgbClr val="9E9E9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63640" y="30175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Teishoku / rice sets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263640" y="321868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Indirect — fast-casual lunch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760720" y="3840480"/>
            <a:ext cx="347472" cy="347472"/>
          </a:xfrm>
          <a:prstGeom prst="rect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63640" y="384048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Family restaurants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263640" y="404164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Indirect — sit-down dining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365760" y="475488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Source: Tabelog Tokyo  ·  Study area: Tokyo 23 wards + surrounds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Priority Zones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C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shortlisted sites spread across three geographic corridors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2468880" cy="2926080"/>
          </a:xfrm>
          <a:prstGeom prst="rect">
            <a:avLst/>
          </a:prstGeom>
          <a:solidFill>
            <a:srgbClr val="FFFFFF">
              <a:alpha val="7000"/>
            </a:srgbClr>
          </a:solidFill>
          <a:ln w="25400">
            <a:solidFill>
              <a:srgbClr val="DA291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783080"/>
            <a:ext cx="2468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DA29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640080" y="29718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A2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234440" y="3337560"/>
            <a:ext cx="1280160" cy="36576"/>
          </a:xfrm>
          <a:prstGeom prst="rect">
            <a:avLst/>
          </a:prstGeom>
          <a:solidFill>
            <a:srgbClr val="DA291C"/>
          </a:solidFill>
          <a:ln w="12700">
            <a:solidFill>
              <a:srgbClr val="DA291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4747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A29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West Tokyo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38862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A2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Setagaya · Suginami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A2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Nerima corridors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74720" y="1554480"/>
            <a:ext cx="2468880" cy="2926080"/>
          </a:xfrm>
          <a:prstGeom prst="rect">
            <a:avLst/>
          </a:prstGeom>
          <a:solidFill>
            <a:srgbClr val="FFFFFF">
              <a:alpha val="7000"/>
            </a:srgbClr>
          </a:solidFill>
          <a:ln w="25400">
            <a:solidFill>
              <a:srgbClr val="FFC72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74720" y="1783080"/>
            <a:ext cx="2468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C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</a:t>
            </a:r>
            <a:endParaRPr lang="en-US" sz="8000" dirty="0"/>
          </a:p>
        </p:txBody>
      </p:sp>
      <p:sp>
        <p:nvSpPr>
          <p:cNvPr id="12" name="Text 10"/>
          <p:cNvSpPr/>
          <p:nvPr/>
        </p:nvSpPr>
        <p:spPr>
          <a:xfrm>
            <a:off x="3474720" y="29718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C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069080" y="3337560"/>
            <a:ext cx="1280160" cy="36576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0" y="34747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C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East Tokyo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74720" y="38862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C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Koto · Sumida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C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Edogawa districts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309360" y="1554480"/>
            <a:ext cx="2468880" cy="2926080"/>
          </a:xfrm>
          <a:prstGeom prst="rect">
            <a:avLst/>
          </a:prstGeom>
          <a:solidFill>
            <a:srgbClr val="FFFFFF">
              <a:alpha val="7000"/>
            </a:srgbClr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309360" y="1783080"/>
            <a:ext cx="2468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</a:t>
            </a:r>
            <a:endParaRPr lang="en-US" sz="8000" dirty="0"/>
          </a:p>
        </p:txBody>
      </p:sp>
      <p:sp>
        <p:nvSpPr>
          <p:cNvPr id="18" name="Text 16"/>
          <p:cNvSpPr/>
          <p:nvPr/>
        </p:nvSpPr>
        <p:spPr>
          <a:xfrm>
            <a:off x="6309360" y="29718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903720" y="3337560"/>
            <a:ext cx="128016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34747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Central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309360" y="38862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Shibuya · Shinjuku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Minato wards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DA291C"/>
          </a:solidFill>
          <a:ln w="12700">
            <a:solidFill>
              <a:srgbClr val="DA29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Untapped Markets — 0 % McDonald's Penetration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4 demand zones have strong dining activity but no McDonald's — the highest-priority entry opportunities.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463040"/>
            <a:ext cx="3977640" cy="141732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463040"/>
            <a:ext cx="64008" cy="1417320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5544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A29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Demand Zone 77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1938528"/>
            <a:ext cx="1371600" cy="256032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9385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 GAP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148840" y="155448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Active dining hub, zero McDonald's presence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48840" y="196596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535 total reviews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148840" y="226771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restaurants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00600" y="1463040"/>
            <a:ext cx="3977640" cy="141732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00600" y="1463040"/>
            <a:ext cx="64008" cy="1417320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83480" y="15544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A29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Demand Zone 81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983480" y="1938528"/>
            <a:ext cx="1371600" cy="256032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83480" y="19385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 GAP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537960" y="155448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Dense residential + office area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37960" y="196596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550 total reviews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537960" y="226771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restaurants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11480" y="3063240"/>
            <a:ext cx="3977640" cy="141732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11480" y="3063240"/>
            <a:ext cx="64008" cy="1417320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31546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A29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Demand Zone 80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1371600" cy="256032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35387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 GAP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148840" y="315468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Growing commercial corridor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148840" y="356616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total reviews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148840" y="386791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restaurants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00600" y="3063240"/>
            <a:ext cx="3977640" cy="141732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0600" y="3063240"/>
            <a:ext cx="64008" cy="1417320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83480" y="31546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A29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Demand Zone 73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983480" y="3538728"/>
            <a:ext cx="1371600" cy="256032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83480" y="35387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 GAP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537960" y="315468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Emerging neighbourhood demand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537960" y="356616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347 total reviews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537960" y="386791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restaurants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Recommended Next Steps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931920" cy="14630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21792" y="1581912"/>
            <a:ext cx="512064" cy="512064"/>
          </a:xfrm>
          <a:prstGeom prst="ellipse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58191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280160" y="137160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Site Validation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80160" y="178308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Field-survey the top 10 candidates. Confirm foot traffic, street visibility, and property availability.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00600" y="1234440"/>
            <a:ext cx="3931920" cy="14630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965192" y="1581912"/>
            <a:ext cx="512064" cy="512064"/>
          </a:xfrm>
          <a:prstGeom prst="ellipse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65192" y="158191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23560" y="137160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Lease Negotiations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623560" y="178308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 real estate partners for the 4 zero-gap zones. Prioritise Demand Zones 77 and 81.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880360"/>
            <a:ext cx="3931920" cy="14630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" y="3227832"/>
            <a:ext cx="512064" cy="512064"/>
          </a:xfrm>
          <a:prstGeom prst="ellipse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32278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280160" y="301752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Demand Verification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80160" y="342900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Commission daytime population data for office-dense areas to confirm latent demand estimates.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00600" y="2880360"/>
            <a:ext cx="3931920" cy="14630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965192" y="3227832"/>
            <a:ext cx="512064" cy="512064"/>
          </a:xfrm>
          <a:prstGeom prst="ellipse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65192" y="32278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623560" y="301752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Phased Rollout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623560" y="342900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3–5 pilot locations in top-scoring West Tokyo sites before committing to the full 50-site programme.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McDonald's Tokyo — New Site Expansion Strategy</dc:title>
  <dc:subject>PptxGenJS Presentation</dc:subject>
  <dc:creator>PptxGenJS</dc:creator>
  <cp:lastModifiedBy>PptxGenJS</cp:lastModifiedBy>
  <cp:revision>1</cp:revision>
  <dcterms:created xsi:type="dcterms:W3CDTF">2026-05-02T11:33:35Z</dcterms:created>
  <dcterms:modified xsi:type="dcterms:W3CDTF">2026-05-02T11:33:35Z</dcterms:modified>
</cp:coreProperties>
</file>